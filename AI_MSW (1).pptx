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83" r:id="rId2"/>
    <p:sldId id="257" r:id="rId3"/>
    <p:sldId id="282" r:id="rId4"/>
    <p:sldId id="285" r:id="rId5"/>
    <p:sldId id="278" r:id="rId6"/>
    <p:sldId id="281" r:id="rId7"/>
    <p:sldId id="301" r:id="rId8"/>
    <p:sldId id="302" r:id="rId9"/>
    <p:sldId id="303" r:id="rId10"/>
    <p:sldId id="279" r:id="rId11"/>
    <p:sldId id="300" r:id="rId12"/>
    <p:sldId id="262" r:id="rId13"/>
    <p:sldId id="290" r:id="rId14"/>
    <p:sldId id="291" r:id="rId15"/>
    <p:sldId id="292" r:id="rId16"/>
    <p:sldId id="293" r:id="rId17"/>
    <p:sldId id="294" r:id="rId18"/>
    <p:sldId id="295" r:id="rId19"/>
    <p:sldId id="296" r:id="rId20"/>
    <p:sldId id="297" r:id="rId21"/>
    <p:sldId id="298" r:id="rId22"/>
    <p:sldId id="299" r:id="rId23"/>
    <p:sldId id="264" r:id="rId24"/>
    <p:sldId id="287" r:id="rId25"/>
    <p:sldId id="280" r:id="rId26"/>
    <p:sldId id="288" r:id="rId27"/>
    <p:sldId id="289" r:id="rId28"/>
    <p:sldId id="276"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41" autoAdjust="0"/>
    <p:restoredTop sz="94660"/>
  </p:normalViewPr>
  <p:slideViewPr>
    <p:cSldViewPr snapToGrid="0">
      <p:cViewPr varScale="1">
        <p:scale>
          <a:sx n="69" d="100"/>
          <a:sy n="69"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7384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868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5557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4043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9306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17118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4120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497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4940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9575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4599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7880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4881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25678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0.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1.emf"/></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dirty="0"/>
              <a:t>The </a:t>
            </a:r>
            <a:r>
              <a:rPr lang="en-US" b="1" dirty="0"/>
              <a:t>AI-Powered Municipal Solid Waste &amp; Circular Economy Platform</a:t>
            </a:r>
            <a:r>
              <a:rPr lang="en-US" dirty="0"/>
              <a:t> explores the capabilities of Agentic AI</a:t>
            </a:r>
            <a:endParaRPr lang="en-IN" dirty="0"/>
          </a:p>
        </p:txBody>
      </p:sp>
    </p:spTree>
    <p:extLst>
      <p:ext uri="{BB962C8B-B14F-4D97-AF65-F5344CB8AC3E}">
        <p14:creationId xmlns:p14="http://schemas.microsoft.com/office/powerpoint/2010/main" val="9575646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05744686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smtClean="0">
                          <a:solidFill>
                            <a:srgbClr val="000000"/>
                          </a:solidFill>
                          <a:latin typeface="Arial"/>
                          <a:ea typeface="Calibri"/>
                          <a:cs typeface="Arial"/>
                          <a:sym typeface="Calibri"/>
                        </a:rPr>
                        <a:t>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err="1" smtClean="0"/>
                        <a:t>Anjara</a:t>
                      </a:r>
                      <a:r>
                        <a:rPr lang="en-US" dirty="0" smtClean="0"/>
                        <a:t> </a:t>
                      </a:r>
                      <a:r>
                        <a:rPr lang="en-US" dirty="0" err="1" smtClean="0"/>
                        <a:t>chhaya</a:t>
                      </a:r>
                      <a:r>
                        <a:rPr lang="en-US" dirty="0" smtClean="0"/>
                        <a:t>     </a:t>
                      </a:r>
                      <a:r>
                        <a:rPr lang="en-US" dirty="0" err="1" smtClean="0"/>
                        <a:t>vinodbhai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anjarachhaya64@gmail.com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9313771754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smtClean="0">
                <a:highlight>
                  <a:srgbClr val="FFFF00"/>
                </a:highlight>
              </a:rPr>
              <a:t> Agriculture /</a:t>
            </a:r>
            <a:r>
              <a:rPr lang="en-IN" sz="2400" dirty="0" smtClean="0"/>
              <a:t>Municipal </a:t>
            </a:r>
            <a:r>
              <a:rPr lang="en-IN" sz="2400" dirty="0"/>
              <a:t>Solid Waste Management &amp; Circular </a:t>
            </a:r>
            <a:r>
              <a:rPr lang="en-IN" sz="2400" dirty="0" err="1" smtClean="0"/>
              <a:t>Econom</a:t>
            </a:r>
            <a:r>
              <a:rPr lang="en-US" sz="2400" b="1" dirty="0">
                <a:highlight>
                  <a:srgbClr val="FFFF00"/>
                </a:highlight>
              </a:rPr>
              <a:t>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a:t>
            </a:r>
            <a:r>
              <a:rPr lang="en-US" sz="2400" b="1" dirty="0" smtClean="0"/>
              <a:t>–  </a:t>
            </a:r>
            <a:r>
              <a:rPr lang="en-US" sz="2400" b="1" dirty="0"/>
              <a:t>AI-Powered Municipal Solid Waste &amp; Circular Economy Platform</a:t>
            </a:r>
            <a:r>
              <a:rPr lang="en-US" sz="2400" dirty="0"/>
              <a:t> </a:t>
            </a:r>
            <a:endParaRPr lang="en-IN" sz="2400" b="1" dirty="0">
              <a:highlight>
                <a:srgbClr val="FFFF00"/>
              </a:highlight>
            </a:endParaRPr>
          </a:p>
        </p:txBody>
      </p:sp>
      <p:pic>
        <p:nvPicPr>
          <p:cNvPr id="2" name="Picture 1"/>
          <p:cNvPicPr>
            <a:picLocks noChangeAspect="1"/>
          </p:cNvPicPr>
          <p:nvPr/>
        </p:nvPicPr>
        <p:blipFill>
          <a:blip r:embed="rId3"/>
          <a:stretch>
            <a:fillRect/>
          </a:stretch>
        </p:blipFill>
        <p:spPr>
          <a:xfrm>
            <a:off x="3837708" y="3574473"/>
            <a:ext cx="1468583" cy="119297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878532"/>
          </a:xfrm>
          <a:prstGeom prst="rect">
            <a:avLst/>
          </a:prstGeom>
          <a:noFill/>
        </p:spPr>
        <p:txBody>
          <a:bodyPr wrap="square" rtlCol="0">
            <a:spAutoFit/>
          </a:bodyPr>
          <a:lstStyle/>
          <a:p>
            <a:pPr fontAlgn="base"/>
            <a:r>
              <a:rPr lang="en-US" sz="1600" b="1" dirty="0"/>
              <a:t>Problem Statement : </a:t>
            </a:r>
            <a:r>
              <a:rPr lang="en-US" sz="1600" dirty="0"/>
              <a:t>AI-Powered Municipal Solid Waste &amp; Circular Economy Agent </a:t>
            </a:r>
          </a:p>
          <a:p>
            <a:pPr fontAlgn="base"/>
            <a:endParaRPr lang="en-US" sz="1600" b="1" dirty="0"/>
          </a:p>
          <a:p>
            <a:r>
              <a:rPr lang="en-US" sz="1600" b="1" dirty="0"/>
              <a:t>The Challenge</a:t>
            </a:r>
          </a:p>
          <a:p>
            <a:r>
              <a:rPr lang="en-US" sz="1600" dirty="0"/>
              <a:t>Municipal corporations face challenges in waste management due to poor waste segregation, delayed complaint resolution, inefficient collection, and limited public awareness. Citizens also lack a reliable platform to report waste issues and receive proper guidance.</a:t>
            </a:r>
          </a:p>
          <a:p>
            <a:r>
              <a:rPr lang="en-US" sz="1600" b="1" dirty="0"/>
              <a:t>The Objective</a:t>
            </a:r>
          </a:p>
          <a:p>
            <a:r>
              <a:rPr lang="en-US" sz="1600" dirty="0"/>
              <a:t>Develop an </a:t>
            </a:r>
            <a:r>
              <a:rPr lang="en-US" sz="1600" b="1" dirty="0"/>
              <a:t>AI-powered platform</a:t>
            </a:r>
            <a:r>
              <a:rPr lang="en-US" sz="1600" dirty="0"/>
              <a:t> that enables smart complaint management, AI-based citizen assistance, waste classification, recycling guidance, and analytics to improve municipal waste management and support a sustainable circular economy</a:t>
            </a:r>
            <a:r>
              <a:rPr lang="en-US" sz="1600" dirty="0" smtClean="0"/>
              <a:t>.</a:t>
            </a:r>
          </a:p>
          <a:p>
            <a:endParaRPr lang="en-US" sz="1600" dirty="0" smtClean="0"/>
          </a:p>
          <a:p>
            <a:endParaRPr lang="en-US" sz="1600" dirty="0"/>
          </a:p>
          <a:p>
            <a:r>
              <a:rPr lang="en-US" sz="1600" b="1" dirty="0"/>
              <a:t>Multi-Agent System</a:t>
            </a:r>
          </a:p>
          <a:p>
            <a:r>
              <a:rPr lang="en-US" sz="1600" b="1" dirty="0"/>
              <a:t>Citizen Support Agent</a:t>
            </a:r>
            <a:r>
              <a:rPr lang="en-US" sz="1600" dirty="0"/>
              <a:t> – Assists users with waste-related queries, complaint registration, and municipal service information. </a:t>
            </a:r>
          </a:p>
          <a:p>
            <a:r>
              <a:rPr lang="en-US" sz="1600" b="1" dirty="0"/>
              <a:t>Complaint Management Agent</a:t>
            </a:r>
            <a:r>
              <a:rPr lang="en-US" sz="1600" dirty="0"/>
              <a:t> – Manages complaint creation, tracking, assignment, and status updates. </a:t>
            </a:r>
          </a:p>
          <a:p>
            <a:r>
              <a:rPr lang="en-US" sz="1600" b="1" dirty="0"/>
              <a:t>Waste Classification Agent</a:t>
            </a:r>
            <a:r>
              <a:rPr lang="en-US" sz="1600" dirty="0"/>
              <a:t> – Identifies waste categories from uploaded images and provides disposal recommendations. </a:t>
            </a:r>
          </a:p>
          <a:p>
            <a:r>
              <a:rPr lang="en-US" sz="1600" b="1" dirty="0"/>
              <a:t>Recycling &amp; Circular Economy Agent</a:t>
            </a:r>
            <a:r>
              <a:rPr lang="en-US" sz="1600" dirty="0"/>
              <a:t> – Recommends recycling methods, waste reduction strategies, and sustainable practices. </a:t>
            </a:r>
          </a:p>
          <a:p>
            <a:r>
              <a:rPr lang="en-US" sz="1600" b="1" dirty="0"/>
              <a:t>Municipal Analytics Agent</a:t>
            </a:r>
            <a:r>
              <a:rPr lang="en-US" sz="1600" dirty="0"/>
              <a:t> – Generates dashboards, reports, and actionable insights for municipal officers and administrators</a:t>
            </a:r>
            <a:r>
              <a:rPr lang="en-US" sz="1600" dirty="0" smtClean="0"/>
              <a:t>.</a:t>
            </a:r>
            <a:r>
              <a:rPr lang="en-US" sz="1600" dirty="0"/>
              <a:t> </a:t>
            </a:r>
          </a:p>
          <a:p>
            <a:pPr fontAlgn="base"/>
            <a:endParaRPr lang="en-US" sz="1200" dirty="0"/>
          </a:p>
          <a:p>
            <a:endParaRPr lang="en-IN" sz="12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r>
              <a:rPr lang="en-US" b="1" dirty="0"/>
              <a:t>Proposed Solution: AI-Powered Municipal Solid Waste &amp; Circular Economy Platform</a:t>
            </a:r>
          </a:p>
          <a:p>
            <a:r>
              <a:rPr lang="en-US" dirty="0"/>
              <a:t>The proposed solution is a </a:t>
            </a:r>
            <a:r>
              <a:rPr lang="en-US" b="1" dirty="0"/>
              <a:t>multi-agent AI-powered Municipal Solid Waste &amp; Circular Economy Platform</a:t>
            </a:r>
            <a:r>
              <a:rPr lang="en-US" dirty="0"/>
              <a:t> built using </a:t>
            </a:r>
            <a:r>
              <a:rPr lang="en-US" b="1" dirty="0"/>
              <a:t>Flask, IBM Granite AI, SQLite, Bootstrap, and IBM watsonx.ai</a:t>
            </a:r>
            <a:r>
              <a:rPr lang="en-US" dirty="0"/>
              <a:t> to improve urban waste management, complaint handling, and citizen engagement. The platform provides an intelligent and centralized solution for citizens and municipal authorities through an AI-driven, modular architecture.</a:t>
            </a:r>
          </a:p>
          <a:p>
            <a:r>
              <a:rPr lang="en-US" dirty="0"/>
              <a:t>At its core, the platform integrates an </a:t>
            </a:r>
            <a:r>
              <a:rPr lang="en-US" b="1" dirty="0"/>
              <a:t>AI Citizen Assistant</a:t>
            </a:r>
            <a:r>
              <a:rPr lang="en-US" dirty="0"/>
              <a:t> powered by IBM Granite models to provide real-time guidance on waste segregation, recycling methods, complaint registration, and municipal services. The system is designed to support future </a:t>
            </a:r>
            <a:r>
              <a:rPr lang="en-US" b="1" dirty="0"/>
              <a:t>Retrieval-Augmented Generation (RAG)</a:t>
            </a:r>
            <a:r>
              <a:rPr lang="en-US" dirty="0"/>
              <a:t> integration, enabling accurate responses using trusted municipal policies, waste management guidelines, and environmental knowledge bases.</a:t>
            </a:r>
          </a:p>
          <a:p>
            <a:r>
              <a:rPr lang="en-US" dirty="0"/>
              <a:t>The system consists of four key agents:</a:t>
            </a:r>
          </a:p>
          <a:p>
            <a:r>
              <a:rPr lang="en-US" b="1" dirty="0"/>
              <a:t>Citizen Support Agent</a:t>
            </a:r>
            <a:r>
              <a:rPr lang="en-US" dirty="0"/>
              <a:t> assists users with waste-related queries, complaint registration, complaint tracking, and municipal service information using AI-powered conversations. </a:t>
            </a:r>
          </a:p>
          <a:p>
            <a:r>
              <a:rPr lang="en-US" b="1" dirty="0"/>
              <a:t>Complaint Management Agent</a:t>
            </a:r>
            <a:r>
              <a:rPr lang="en-US" dirty="0"/>
              <a:t> manages complaint submission, tracking, assignment, and status updates, enabling efficient communication between citizens and municipal officers. </a:t>
            </a:r>
          </a:p>
          <a:p>
            <a:r>
              <a:rPr lang="en-US" b="1" dirty="0"/>
              <a:t>Waste Classification Agent</a:t>
            </a:r>
            <a:r>
              <a:rPr lang="en-US" dirty="0"/>
              <a:t> analyzes uploaded waste images and identifies waste categories such as wet waste, dry waste, plastic waste, and e-waste while providing appropriate disposal and recycling guidance. </a:t>
            </a:r>
          </a:p>
          <a:p>
            <a:r>
              <a:rPr lang="en-US" b="1" dirty="0"/>
              <a:t>Municipal Analytics Agent</a:t>
            </a:r>
            <a:r>
              <a:rPr lang="en-US" dirty="0"/>
              <a:t> generates dashboards, complaint statistics, waste trends, and operational insights to support data-driven decision-making for municipal authorities. </a:t>
            </a:r>
          </a:p>
          <a:p>
            <a:r>
              <a:rPr lang="en-US" dirty="0"/>
              <a:t>The solution includes a </a:t>
            </a:r>
            <a:r>
              <a:rPr lang="en-US" b="1" dirty="0"/>
              <a:t>responsive web dashboard</a:t>
            </a:r>
            <a:r>
              <a:rPr lang="en-US" dirty="0"/>
              <a:t> built with </a:t>
            </a:r>
            <a:r>
              <a:rPr lang="en-US" b="1" dirty="0"/>
              <a:t>Flask, Bootstrap 5, HTML, CSS, and JavaScript</a:t>
            </a:r>
            <a:r>
              <a:rPr lang="en-US" dirty="0"/>
              <a:t>, allowing citizens to submit complaints, interact with the AI Assistant, and access waste management services, while administrators and municipal officers can monitor complaints, analyze trends, and manage operations efficiently.</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graphicFrame>
        <p:nvGraphicFramePr>
          <p:cNvPr id="5" name="Table 4"/>
          <p:cNvGraphicFramePr>
            <a:graphicFrameLocks noGrp="1"/>
          </p:cNvGraphicFramePr>
          <p:nvPr/>
        </p:nvGraphicFramePr>
        <p:xfrm>
          <a:off x="838200" y="2477294"/>
          <a:ext cx="10515600" cy="3048000"/>
        </p:xfrm>
        <a:graphic>
          <a:graphicData uri="http://schemas.openxmlformats.org/drawingml/2006/table">
            <a:tbl>
              <a:tblPr/>
              <a:tblGrid>
                <a:gridCol w="5257800">
                  <a:extLst>
                    <a:ext uri="{9D8B030D-6E8A-4147-A177-3AD203B41FA5}">
                      <a16:colId xmlns:a16="http://schemas.microsoft.com/office/drawing/2014/main" val="1386384379"/>
                    </a:ext>
                  </a:extLst>
                </a:gridCol>
                <a:gridCol w="5257800">
                  <a:extLst>
                    <a:ext uri="{9D8B030D-6E8A-4147-A177-3AD203B41FA5}">
                      <a16:colId xmlns:a16="http://schemas.microsoft.com/office/drawing/2014/main" val="3384341432"/>
                    </a:ext>
                  </a:extLst>
                </a:gridCol>
              </a:tblGrid>
              <a:tr h="0">
                <a:tc>
                  <a:txBody>
                    <a:bodyPr/>
                    <a:lstStyle/>
                    <a:p>
                      <a:r>
                        <a:rPr lang="en-IN" dirty="0"/>
                        <a:t>Category</a:t>
                      </a:r>
                    </a:p>
                  </a:txBody>
                  <a:tcPr anchor="ctr">
                    <a:lnL>
                      <a:noFill/>
                    </a:lnL>
                    <a:lnR>
                      <a:noFill/>
                    </a:lnR>
                    <a:lnT>
                      <a:noFill/>
                    </a:lnT>
                    <a:lnB>
                      <a:noFill/>
                    </a:lnB>
                  </a:tcPr>
                </a:tc>
                <a:tc>
                  <a:txBody>
                    <a:bodyPr/>
                    <a:lstStyle/>
                    <a:p>
                      <a:r>
                        <a:rPr lang="en-IN"/>
                        <a:t>Technology</a:t>
                      </a:r>
                    </a:p>
                  </a:txBody>
                  <a:tcPr anchor="ctr">
                    <a:lnL>
                      <a:noFill/>
                    </a:lnL>
                    <a:lnR>
                      <a:noFill/>
                    </a:lnR>
                    <a:lnT>
                      <a:noFill/>
                    </a:lnT>
                    <a:lnB>
                      <a:noFill/>
                    </a:lnB>
                  </a:tcPr>
                </a:tc>
                <a:extLst>
                  <a:ext uri="{0D108BD9-81ED-4DB2-BD59-A6C34878D82A}">
                    <a16:rowId xmlns:a16="http://schemas.microsoft.com/office/drawing/2014/main" val="3366474716"/>
                  </a:ext>
                </a:extLst>
              </a:tr>
              <a:tr h="0">
                <a:tc>
                  <a:txBody>
                    <a:bodyPr/>
                    <a:lstStyle/>
                    <a:p>
                      <a:r>
                        <a:rPr lang="en-IN" b="1"/>
                        <a:t>Programming Language</a:t>
                      </a:r>
                      <a:endParaRPr lang="en-IN"/>
                    </a:p>
                  </a:txBody>
                  <a:tcPr anchor="ctr">
                    <a:lnL>
                      <a:noFill/>
                    </a:lnL>
                    <a:lnR>
                      <a:noFill/>
                    </a:lnR>
                    <a:lnT>
                      <a:noFill/>
                    </a:lnT>
                    <a:lnB>
                      <a:noFill/>
                    </a:lnB>
                  </a:tcPr>
                </a:tc>
                <a:tc>
                  <a:txBody>
                    <a:bodyPr/>
                    <a:lstStyle/>
                    <a:p>
                      <a:r>
                        <a:rPr lang="en-IN"/>
                        <a:t>Python 3.13</a:t>
                      </a:r>
                    </a:p>
                  </a:txBody>
                  <a:tcPr anchor="ctr">
                    <a:lnL>
                      <a:noFill/>
                    </a:lnL>
                    <a:lnR>
                      <a:noFill/>
                    </a:lnR>
                    <a:lnT>
                      <a:noFill/>
                    </a:lnT>
                    <a:lnB>
                      <a:noFill/>
                    </a:lnB>
                  </a:tcPr>
                </a:tc>
                <a:extLst>
                  <a:ext uri="{0D108BD9-81ED-4DB2-BD59-A6C34878D82A}">
                    <a16:rowId xmlns:a16="http://schemas.microsoft.com/office/drawing/2014/main" val="508447280"/>
                  </a:ext>
                </a:extLst>
              </a:tr>
              <a:tr h="0">
                <a:tc>
                  <a:txBody>
                    <a:bodyPr/>
                    <a:lstStyle/>
                    <a:p>
                      <a:r>
                        <a:rPr lang="en-IN" b="1" dirty="0"/>
                        <a:t>Backend Framework</a:t>
                      </a:r>
                      <a:endParaRPr lang="en-IN" dirty="0"/>
                    </a:p>
                  </a:txBody>
                  <a:tcPr anchor="ctr">
                    <a:lnL>
                      <a:noFill/>
                    </a:lnL>
                    <a:lnR>
                      <a:noFill/>
                    </a:lnR>
                    <a:lnT>
                      <a:noFill/>
                    </a:lnT>
                    <a:lnB>
                      <a:noFill/>
                    </a:lnB>
                  </a:tcPr>
                </a:tc>
                <a:tc>
                  <a:txBody>
                    <a:bodyPr/>
                    <a:lstStyle/>
                    <a:p>
                      <a:r>
                        <a:rPr lang="en-IN"/>
                        <a:t>Flask</a:t>
                      </a:r>
                    </a:p>
                  </a:txBody>
                  <a:tcPr anchor="ctr">
                    <a:lnL>
                      <a:noFill/>
                    </a:lnL>
                    <a:lnR>
                      <a:noFill/>
                    </a:lnR>
                    <a:lnT>
                      <a:noFill/>
                    </a:lnT>
                    <a:lnB>
                      <a:noFill/>
                    </a:lnB>
                  </a:tcPr>
                </a:tc>
                <a:extLst>
                  <a:ext uri="{0D108BD9-81ED-4DB2-BD59-A6C34878D82A}">
                    <a16:rowId xmlns:a16="http://schemas.microsoft.com/office/drawing/2014/main" val="3172898793"/>
                  </a:ext>
                </a:extLst>
              </a:tr>
              <a:tr h="0">
                <a:tc>
                  <a:txBody>
                    <a:bodyPr/>
                    <a:lstStyle/>
                    <a:p>
                      <a:r>
                        <a:rPr lang="en-IN" b="1"/>
                        <a:t>Frontend</a:t>
                      </a:r>
                      <a:endParaRPr lang="en-IN"/>
                    </a:p>
                  </a:txBody>
                  <a:tcPr anchor="ctr">
                    <a:lnL>
                      <a:noFill/>
                    </a:lnL>
                    <a:lnR>
                      <a:noFill/>
                    </a:lnR>
                    <a:lnT>
                      <a:noFill/>
                    </a:lnT>
                    <a:lnB>
                      <a:noFill/>
                    </a:lnB>
                  </a:tcPr>
                </a:tc>
                <a:tc>
                  <a:txBody>
                    <a:bodyPr/>
                    <a:lstStyle/>
                    <a:p>
                      <a:r>
                        <a:rPr lang="en-IN"/>
                        <a:t>HTML5, CSS3, JavaScript</a:t>
                      </a:r>
                    </a:p>
                  </a:txBody>
                  <a:tcPr anchor="ctr">
                    <a:lnL>
                      <a:noFill/>
                    </a:lnL>
                    <a:lnR>
                      <a:noFill/>
                    </a:lnR>
                    <a:lnT>
                      <a:noFill/>
                    </a:lnT>
                    <a:lnB>
                      <a:noFill/>
                    </a:lnB>
                  </a:tcPr>
                </a:tc>
                <a:extLst>
                  <a:ext uri="{0D108BD9-81ED-4DB2-BD59-A6C34878D82A}">
                    <a16:rowId xmlns:a16="http://schemas.microsoft.com/office/drawing/2014/main" val="957899775"/>
                  </a:ext>
                </a:extLst>
              </a:tr>
              <a:tr h="0">
                <a:tc>
                  <a:txBody>
                    <a:bodyPr/>
                    <a:lstStyle/>
                    <a:p>
                      <a:r>
                        <a:rPr lang="en-IN" b="1"/>
                        <a:t>UI Framework</a:t>
                      </a:r>
                      <a:endParaRPr lang="en-IN"/>
                    </a:p>
                  </a:txBody>
                  <a:tcPr anchor="ctr">
                    <a:lnL>
                      <a:noFill/>
                    </a:lnL>
                    <a:lnR>
                      <a:noFill/>
                    </a:lnR>
                    <a:lnT>
                      <a:noFill/>
                    </a:lnT>
                    <a:lnB>
                      <a:noFill/>
                    </a:lnB>
                  </a:tcPr>
                </a:tc>
                <a:tc>
                  <a:txBody>
                    <a:bodyPr/>
                    <a:lstStyle/>
                    <a:p>
                      <a:r>
                        <a:rPr lang="en-IN"/>
                        <a:t>Bootstrap 5.3</a:t>
                      </a:r>
                    </a:p>
                  </a:txBody>
                  <a:tcPr anchor="ctr">
                    <a:lnL>
                      <a:noFill/>
                    </a:lnL>
                    <a:lnR>
                      <a:noFill/>
                    </a:lnR>
                    <a:lnT>
                      <a:noFill/>
                    </a:lnT>
                    <a:lnB>
                      <a:noFill/>
                    </a:lnB>
                  </a:tcPr>
                </a:tc>
                <a:extLst>
                  <a:ext uri="{0D108BD9-81ED-4DB2-BD59-A6C34878D82A}">
                    <a16:rowId xmlns:a16="http://schemas.microsoft.com/office/drawing/2014/main" val="2804545397"/>
                  </a:ext>
                </a:extLst>
              </a:tr>
              <a:tr h="0">
                <a:tc>
                  <a:txBody>
                    <a:bodyPr/>
                    <a:lstStyle/>
                    <a:p>
                      <a:r>
                        <a:rPr lang="en-IN" b="1"/>
                        <a:t>Database</a:t>
                      </a:r>
                      <a:endParaRPr lang="en-IN"/>
                    </a:p>
                  </a:txBody>
                  <a:tcPr anchor="ctr">
                    <a:lnL>
                      <a:noFill/>
                    </a:lnL>
                    <a:lnR>
                      <a:noFill/>
                    </a:lnR>
                    <a:lnT>
                      <a:noFill/>
                    </a:lnT>
                    <a:lnB>
                      <a:noFill/>
                    </a:lnB>
                  </a:tcPr>
                </a:tc>
                <a:tc>
                  <a:txBody>
                    <a:bodyPr/>
                    <a:lstStyle/>
                    <a:p>
                      <a:r>
                        <a:rPr lang="en-IN"/>
                        <a:t>SQLite (SQLAlchemy)</a:t>
                      </a:r>
                    </a:p>
                  </a:txBody>
                  <a:tcPr anchor="ctr">
                    <a:lnL>
                      <a:noFill/>
                    </a:lnL>
                    <a:lnR>
                      <a:noFill/>
                    </a:lnR>
                    <a:lnT>
                      <a:noFill/>
                    </a:lnT>
                    <a:lnB>
                      <a:noFill/>
                    </a:lnB>
                  </a:tcPr>
                </a:tc>
                <a:extLst>
                  <a:ext uri="{0D108BD9-81ED-4DB2-BD59-A6C34878D82A}">
                    <a16:rowId xmlns:a16="http://schemas.microsoft.com/office/drawing/2014/main" val="3181219428"/>
                  </a:ext>
                </a:extLst>
              </a:tr>
              <a:tr h="0">
                <a:tc>
                  <a:txBody>
                    <a:bodyPr/>
                    <a:lstStyle/>
                    <a:p>
                      <a:r>
                        <a:rPr lang="en-IN" b="1"/>
                        <a:t>AI / LLM Technology</a:t>
                      </a:r>
                      <a:endParaRPr lang="en-IN"/>
                    </a:p>
                  </a:txBody>
                  <a:tcPr anchor="ctr">
                    <a:lnL>
                      <a:noFill/>
                    </a:lnL>
                    <a:lnR>
                      <a:noFill/>
                    </a:lnR>
                    <a:lnT>
                      <a:noFill/>
                    </a:lnT>
                    <a:lnB>
                      <a:noFill/>
                    </a:lnB>
                  </a:tcPr>
                </a:tc>
                <a:tc>
                  <a:txBody>
                    <a:bodyPr/>
                    <a:lstStyle/>
                    <a:p>
                      <a:r>
                        <a:rPr lang="en-IN"/>
                        <a:t>IBM Granite AI Model</a:t>
                      </a:r>
                    </a:p>
                  </a:txBody>
                  <a:tcPr anchor="ctr">
                    <a:lnL>
                      <a:noFill/>
                    </a:lnL>
                    <a:lnR>
                      <a:noFill/>
                    </a:lnR>
                    <a:lnT>
                      <a:noFill/>
                    </a:lnT>
                    <a:lnB>
                      <a:noFill/>
                    </a:lnB>
                  </a:tcPr>
                </a:tc>
                <a:extLst>
                  <a:ext uri="{0D108BD9-81ED-4DB2-BD59-A6C34878D82A}">
                    <a16:rowId xmlns:a16="http://schemas.microsoft.com/office/drawing/2014/main" val="2459102172"/>
                  </a:ext>
                </a:extLst>
              </a:tr>
              <a:tr h="0">
                <a:tc>
                  <a:txBody>
                    <a:bodyPr/>
                    <a:lstStyle/>
                    <a:p>
                      <a:r>
                        <a:rPr lang="en-IN" b="1"/>
                        <a:t>AI Platform</a:t>
                      </a:r>
                      <a:endParaRPr lang="en-IN"/>
                    </a:p>
                  </a:txBody>
                  <a:tcPr anchor="ctr">
                    <a:lnL>
                      <a:noFill/>
                    </a:lnL>
                    <a:lnR>
                      <a:noFill/>
                    </a:lnR>
                    <a:lnT>
                      <a:noFill/>
                    </a:lnT>
                    <a:lnB>
                      <a:noFill/>
                    </a:lnB>
                  </a:tcPr>
                </a:tc>
                <a:tc>
                  <a:txBody>
                    <a:bodyPr/>
                    <a:lstStyle/>
                    <a:p>
                      <a:r>
                        <a:rPr lang="en-IN"/>
                        <a:t>IBM watsonx.ai</a:t>
                      </a:r>
                    </a:p>
                  </a:txBody>
                  <a:tcPr anchor="ctr">
                    <a:lnL>
                      <a:noFill/>
                    </a:lnL>
                    <a:lnR>
                      <a:noFill/>
                    </a:lnR>
                    <a:lnT>
                      <a:noFill/>
                    </a:lnT>
                    <a:lnB>
                      <a:noFill/>
                    </a:lnB>
                  </a:tcPr>
                </a:tc>
                <a:extLst>
                  <a:ext uri="{0D108BD9-81ED-4DB2-BD59-A6C34878D82A}">
                    <a16:rowId xmlns:a16="http://schemas.microsoft.com/office/drawing/2014/main" val="1059433816"/>
                  </a:ext>
                </a:extLst>
              </a:tr>
              <a:tr h="0">
                <a:tc>
                  <a:txBody>
                    <a:bodyPr/>
                    <a:lstStyle/>
                    <a:p>
                      <a:r>
                        <a:rPr lang="en-IN" b="1"/>
                        <a:t>AI Approach</a:t>
                      </a:r>
                      <a:endParaRPr lang="en-IN"/>
                    </a:p>
                  </a:txBody>
                  <a:tcPr anchor="ctr">
                    <a:lnL>
                      <a:noFill/>
                    </a:lnL>
                    <a:lnR>
                      <a:noFill/>
                    </a:lnR>
                    <a:lnT>
                      <a:noFill/>
                    </a:lnT>
                    <a:lnB>
                      <a:noFill/>
                    </a:lnB>
                  </a:tcPr>
                </a:tc>
                <a:tc>
                  <a:txBody>
                    <a:bodyPr/>
                    <a:lstStyle/>
                    <a:p>
                      <a:r>
                        <a:rPr lang="en-IN"/>
                        <a:t>Agentic AI</a:t>
                      </a:r>
                    </a:p>
                  </a:txBody>
                  <a:tcPr anchor="ctr">
                    <a:lnL>
                      <a:noFill/>
                    </a:lnL>
                    <a:lnR>
                      <a:noFill/>
                    </a:lnR>
                    <a:lnT>
                      <a:noFill/>
                    </a:lnT>
                    <a:lnB>
                      <a:noFill/>
                    </a:lnB>
                  </a:tcPr>
                </a:tc>
                <a:extLst>
                  <a:ext uri="{0D108BD9-81ED-4DB2-BD59-A6C34878D82A}">
                    <a16:rowId xmlns:a16="http://schemas.microsoft.com/office/drawing/2014/main" val="2752855899"/>
                  </a:ext>
                </a:extLst>
              </a:tr>
              <a:tr h="0">
                <a:tc>
                  <a:txBody>
                    <a:bodyPr/>
                    <a:lstStyle/>
                    <a:p>
                      <a:r>
                        <a:rPr lang="en-IN" b="1"/>
                        <a:t>Configuration</a:t>
                      </a:r>
                      <a:endParaRPr lang="en-IN"/>
                    </a:p>
                  </a:txBody>
                  <a:tcPr anchor="ctr">
                    <a:lnL>
                      <a:noFill/>
                    </a:lnL>
                    <a:lnR>
                      <a:noFill/>
                    </a:lnR>
                    <a:lnT>
                      <a:noFill/>
                    </a:lnT>
                    <a:lnB>
                      <a:noFill/>
                    </a:lnB>
                  </a:tcPr>
                </a:tc>
                <a:tc>
                  <a:txBody>
                    <a:bodyPr/>
                    <a:lstStyle/>
                    <a:p>
                      <a:r>
                        <a:rPr lang="en-IN" dirty="0"/>
                        <a:t>Environment Variables (.</a:t>
                      </a:r>
                      <a:r>
                        <a:rPr lang="en-IN" dirty="0" err="1"/>
                        <a:t>env</a:t>
                      </a:r>
                      <a:r>
                        <a:rPr lang="en-IN" dirty="0"/>
                        <a:t>)</a:t>
                      </a:r>
                    </a:p>
                  </a:txBody>
                  <a:tcPr anchor="ctr">
                    <a:lnL>
                      <a:noFill/>
                    </a:lnL>
                    <a:lnR>
                      <a:noFill/>
                    </a:lnR>
                    <a:lnT>
                      <a:noFill/>
                    </a:lnT>
                    <a:lnB>
                      <a:noFill/>
                    </a:lnB>
                  </a:tcPr>
                </a:tc>
                <a:extLst>
                  <a:ext uri="{0D108BD9-81ED-4DB2-BD59-A6C34878D82A}">
                    <a16:rowId xmlns:a16="http://schemas.microsoft.com/office/drawing/2014/main" val="2790794570"/>
                  </a:ext>
                </a:extLst>
              </a:tr>
            </a:tbl>
          </a:graphicData>
        </a:graphic>
      </p:graphicFrame>
    </p:spTree>
    <p:extLst>
      <p:ext uri="{BB962C8B-B14F-4D97-AF65-F5344CB8AC3E}">
        <p14:creationId xmlns:p14="http://schemas.microsoft.com/office/powerpoint/2010/main" val="37644058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815882"/>
          </a:xfrm>
          <a:prstGeom prst="rect">
            <a:avLst/>
          </a:prstGeom>
          <a:noFill/>
        </p:spPr>
        <p:txBody>
          <a:bodyPr wrap="square" rtlCol="0">
            <a:spAutoFit/>
          </a:bodyPr>
          <a:lstStyle/>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822" y="703515"/>
            <a:ext cx="11578632" cy="4497049"/>
          </a:xfrm>
          <a:prstGeom prst="rect">
            <a:avLst/>
          </a:prstGeom>
        </p:spPr>
      </p:pic>
    </p:spTree>
    <p:extLst>
      <p:ext uri="{BB962C8B-B14F-4D97-AF65-F5344CB8AC3E}">
        <p14:creationId xmlns:p14="http://schemas.microsoft.com/office/powerpoint/2010/main" val="3285263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815882"/>
          </a:xfrm>
          <a:prstGeom prst="rect">
            <a:avLst/>
          </a:prstGeom>
          <a:noFill/>
        </p:spPr>
        <p:txBody>
          <a:bodyPr wrap="square" rtlCol="0">
            <a:spAutoFit/>
          </a:bodyPr>
          <a:lstStyle/>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8546" y="685417"/>
            <a:ext cx="9554908" cy="5487166"/>
          </a:xfrm>
          <a:prstGeom prst="rect">
            <a:avLst/>
          </a:prstGeom>
        </p:spPr>
      </p:pic>
      <p:sp>
        <p:nvSpPr>
          <p:cNvPr id="5" name="TextBox 4"/>
          <p:cNvSpPr txBox="1"/>
          <p:nvPr/>
        </p:nvSpPr>
        <p:spPr>
          <a:xfrm>
            <a:off x="3172691" y="6303818"/>
            <a:ext cx="5008808" cy="307777"/>
          </a:xfrm>
          <a:prstGeom prst="rect">
            <a:avLst/>
          </a:prstGeom>
          <a:noFill/>
        </p:spPr>
        <p:txBody>
          <a:bodyPr wrap="square" rtlCol="0">
            <a:spAutoFit/>
          </a:bodyPr>
          <a:lstStyle/>
          <a:p>
            <a:r>
              <a:rPr lang="en-US" dirty="0" smtClean="0"/>
              <a:t>                                         Feature page</a:t>
            </a:r>
            <a:endParaRPr lang="en-IN" dirty="0"/>
          </a:p>
        </p:txBody>
      </p:sp>
    </p:spTree>
    <p:extLst>
      <p:ext uri="{BB962C8B-B14F-4D97-AF65-F5344CB8AC3E}">
        <p14:creationId xmlns:p14="http://schemas.microsoft.com/office/powerpoint/2010/main" val="9413803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815882"/>
          </a:xfrm>
          <a:prstGeom prst="rect">
            <a:avLst/>
          </a:prstGeom>
          <a:noFill/>
        </p:spPr>
        <p:txBody>
          <a:bodyPr wrap="square" rtlCol="0">
            <a:spAutoFit/>
          </a:bodyPr>
          <a:lstStyle/>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2335" y="656838"/>
            <a:ext cx="9707330" cy="5544324"/>
          </a:xfrm>
          <a:prstGeom prst="rect">
            <a:avLst/>
          </a:prstGeom>
        </p:spPr>
      </p:pic>
      <p:sp>
        <p:nvSpPr>
          <p:cNvPr id="5" name="TextBox 4"/>
          <p:cNvSpPr txBox="1"/>
          <p:nvPr/>
        </p:nvSpPr>
        <p:spPr>
          <a:xfrm>
            <a:off x="3754582" y="6428509"/>
            <a:ext cx="3546763" cy="307777"/>
          </a:xfrm>
          <a:prstGeom prst="rect">
            <a:avLst/>
          </a:prstGeom>
          <a:noFill/>
        </p:spPr>
        <p:txBody>
          <a:bodyPr wrap="square" rtlCol="0">
            <a:spAutoFit/>
          </a:bodyPr>
          <a:lstStyle/>
          <a:p>
            <a:r>
              <a:rPr lang="en-US" dirty="0" smtClean="0"/>
              <a:t>                      About Page</a:t>
            </a:r>
            <a:endParaRPr lang="en-IN" dirty="0"/>
          </a:p>
        </p:txBody>
      </p:sp>
    </p:spTree>
    <p:extLst>
      <p:ext uri="{BB962C8B-B14F-4D97-AF65-F5344CB8AC3E}">
        <p14:creationId xmlns:p14="http://schemas.microsoft.com/office/powerpoint/2010/main" val="33570166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815882"/>
          </a:xfrm>
          <a:prstGeom prst="rect">
            <a:avLst/>
          </a:prstGeom>
          <a:noFill/>
        </p:spPr>
        <p:txBody>
          <a:bodyPr wrap="square" rtlCol="0">
            <a:spAutoFit/>
          </a:bodyPr>
          <a:lstStyle/>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019" y="914049"/>
            <a:ext cx="10058400" cy="4912891"/>
          </a:xfrm>
          <a:prstGeom prst="rect">
            <a:avLst/>
          </a:prstGeom>
        </p:spPr>
      </p:pic>
    </p:spTree>
    <p:extLst>
      <p:ext uri="{BB962C8B-B14F-4D97-AF65-F5344CB8AC3E}">
        <p14:creationId xmlns:p14="http://schemas.microsoft.com/office/powerpoint/2010/main" val="18640088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5" name="TextBox 4"/>
          <p:cNvSpPr txBox="1"/>
          <p:nvPr/>
        </p:nvSpPr>
        <p:spPr>
          <a:xfrm>
            <a:off x="249382" y="5583382"/>
            <a:ext cx="11513127" cy="307777"/>
          </a:xfrm>
          <a:prstGeom prst="rect">
            <a:avLst/>
          </a:prstGeom>
          <a:noFill/>
        </p:spPr>
        <p:txBody>
          <a:bodyPr wrap="square" rtlCol="0">
            <a:spAutoFit/>
          </a:bodyPr>
          <a:lstStyle/>
          <a:p>
            <a:r>
              <a:rPr lang="en-US" dirty="0" smtClean="0"/>
              <a:t>                                            Admin </a:t>
            </a:r>
            <a:r>
              <a:rPr lang="en-US" dirty="0" err="1" smtClean="0"/>
              <a:t>Login,citizen</a:t>
            </a:r>
            <a:r>
              <a:rPr lang="en-US" dirty="0" smtClean="0"/>
              <a:t> and municipal officers can register and login to access  their respective pages</a:t>
            </a:r>
            <a:endParaRPr lang="en-IN" dirty="0"/>
          </a:p>
        </p:txBody>
      </p:sp>
      <p:pic>
        <p:nvPicPr>
          <p:cNvPr id="6" name="Picture 5"/>
          <p:cNvPicPr>
            <a:picLocks noChangeAspect="1"/>
          </p:cNvPicPr>
          <p:nvPr/>
        </p:nvPicPr>
        <p:blipFill>
          <a:blip r:embed="rId3"/>
          <a:stretch>
            <a:fillRect/>
          </a:stretch>
        </p:blipFill>
        <p:spPr>
          <a:xfrm>
            <a:off x="1376795" y="-348529"/>
            <a:ext cx="9258300" cy="5781675"/>
          </a:xfrm>
          <a:prstGeom prst="rect">
            <a:avLst/>
          </a:prstGeom>
        </p:spPr>
      </p:pic>
    </p:spTree>
    <p:extLst>
      <p:ext uri="{BB962C8B-B14F-4D97-AF65-F5344CB8AC3E}">
        <p14:creationId xmlns:p14="http://schemas.microsoft.com/office/powerpoint/2010/main" val="27725019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78861"/>
            <a:ext cx="11914909" cy="4702729"/>
          </a:xfrm>
          <a:prstGeom prst="rect">
            <a:avLst/>
          </a:prstGeom>
        </p:spPr>
      </p:pic>
      <p:sp>
        <p:nvSpPr>
          <p:cNvPr id="5" name="TextBox 4"/>
          <p:cNvSpPr txBox="1"/>
          <p:nvPr/>
        </p:nvSpPr>
        <p:spPr>
          <a:xfrm>
            <a:off x="249382" y="5583382"/>
            <a:ext cx="11513127" cy="307777"/>
          </a:xfrm>
          <a:prstGeom prst="rect">
            <a:avLst/>
          </a:prstGeom>
          <a:noFill/>
        </p:spPr>
        <p:txBody>
          <a:bodyPr wrap="square" rtlCol="0">
            <a:spAutoFit/>
          </a:bodyPr>
          <a:lstStyle/>
          <a:p>
            <a:r>
              <a:rPr lang="en-US" dirty="0" smtClean="0"/>
              <a:t>                                            Admin </a:t>
            </a:r>
            <a:r>
              <a:rPr lang="en-US" dirty="0" err="1" smtClean="0"/>
              <a:t>Login,citizen</a:t>
            </a:r>
            <a:r>
              <a:rPr lang="en-US" dirty="0" smtClean="0"/>
              <a:t> and municipal officers can register and login to access  their respective pages</a:t>
            </a:r>
            <a:endParaRPr lang="en-IN" dirty="0"/>
          </a:p>
        </p:txBody>
      </p:sp>
    </p:spTree>
    <p:extLst>
      <p:ext uri="{BB962C8B-B14F-4D97-AF65-F5344CB8AC3E}">
        <p14:creationId xmlns:p14="http://schemas.microsoft.com/office/powerpoint/2010/main" val="12062596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4692"/>
            <a:ext cx="11887200" cy="5943600"/>
          </a:xfrm>
          <a:prstGeom prst="rect">
            <a:avLst/>
          </a:prstGeom>
        </p:spPr>
      </p:pic>
      <p:sp>
        <p:nvSpPr>
          <p:cNvPr id="5" name="TextBox 4"/>
          <p:cNvSpPr txBox="1"/>
          <p:nvPr/>
        </p:nvSpPr>
        <p:spPr>
          <a:xfrm>
            <a:off x="2798618" y="6220691"/>
            <a:ext cx="6082146" cy="307777"/>
          </a:xfrm>
          <a:prstGeom prst="rect">
            <a:avLst/>
          </a:prstGeom>
          <a:noFill/>
        </p:spPr>
        <p:txBody>
          <a:bodyPr wrap="square" rtlCol="0">
            <a:spAutoFit/>
          </a:bodyPr>
          <a:lstStyle/>
          <a:p>
            <a:r>
              <a:rPr lang="en-US" dirty="0" smtClean="0"/>
              <a:t>                                     Admin can login and access their dashboard</a:t>
            </a:r>
            <a:endParaRPr lang="en-I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72466"/>
            <a:ext cx="12192000" cy="5486769"/>
          </a:xfrm>
          <a:prstGeom prst="rect">
            <a:avLst/>
          </a:prstGeom>
        </p:spPr>
      </p:pic>
    </p:spTree>
    <p:extLst>
      <p:ext uri="{BB962C8B-B14F-4D97-AF65-F5344CB8AC3E}">
        <p14:creationId xmlns:p14="http://schemas.microsoft.com/office/powerpoint/2010/main" val="33103312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696937"/>
            <a:ext cx="12025745" cy="5551463"/>
          </a:xfrm>
          <a:prstGeom prst="rect">
            <a:avLst/>
          </a:prstGeom>
        </p:spPr>
      </p:pic>
      <p:sp>
        <p:nvSpPr>
          <p:cNvPr id="5" name="TextBox 4"/>
          <p:cNvSpPr txBox="1"/>
          <p:nvPr/>
        </p:nvSpPr>
        <p:spPr>
          <a:xfrm>
            <a:off x="2895600" y="6442364"/>
            <a:ext cx="5417127" cy="307777"/>
          </a:xfrm>
          <a:prstGeom prst="rect">
            <a:avLst/>
          </a:prstGeom>
          <a:noFill/>
        </p:spPr>
        <p:txBody>
          <a:bodyPr wrap="square" rtlCol="0">
            <a:spAutoFit/>
          </a:bodyPr>
          <a:lstStyle/>
          <a:p>
            <a:r>
              <a:rPr lang="en-US" dirty="0" smtClean="0"/>
              <a:t>		Ai Agent </a:t>
            </a:r>
            <a:endParaRPr lang="en-IN" dirty="0"/>
          </a:p>
        </p:txBody>
      </p:sp>
    </p:spTree>
    <p:extLst>
      <p:ext uri="{BB962C8B-B14F-4D97-AF65-F5344CB8AC3E}">
        <p14:creationId xmlns:p14="http://schemas.microsoft.com/office/powerpoint/2010/main" val="32511688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782" y="730696"/>
            <a:ext cx="11000509" cy="4452200"/>
          </a:xfrm>
          <a:prstGeom prst="rect">
            <a:avLst/>
          </a:prstGeom>
        </p:spPr>
      </p:pic>
      <p:sp>
        <p:nvSpPr>
          <p:cNvPr id="4" name="TextBox 3"/>
          <p:cNvSpPr txBox="1"/>
          <p:nvPr/>
        </p:nvSpPr>
        <p:spPr>
          <a:xfrm>
            <a:off x="3269673" y="5583382"/>
            <a:ext cx="4668982" cy="307777"/>
          </a:xfrm>
          <a:prstGeom prst="rect">
            <a:avLst/>
          </a:prstGeom>
          <a:noFill/>
        </p:spPr>
        <p:txBody>
          <a:bodyPr wrap="square" rtlCol="0">
            <a:spAutoFit/>
          </a:bodyPr>
          <a:lstStyle/>
          <a:p>
            <a:r>
              <a:rPr lang="en-US" dirty="0" smtClean="0"/>
              <a:t>                        Citizen can login </a:t>
            </a:r>
            <a:endParaRPr lang="en-IN" dirty="0"/>
          </a:p>
        </p:txBody>
      </p:sp>
    </p:spTree>
    <p:extLst>
      <p:ext uri="{BB962C8B-B14F-4D97-AF65-F5344CB8AC3E}">
        <p14:creationId xmlns:p14="http://schemas.microsoft.com/office/powerpoint/2010/main" val="16666843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17707"/>
            <a:ext cx="11887200" cy="5209019"/>
          </a:xfrm>
          <a:prstGeom prst="rect">
            <a:avLst/>
          </a:prstGeom>
        </p:spPr>
      </p:pic>
      <p:sp>
        <p:nvSpPr>
          <p:cNvPr id="4" name="TextBox 3"/>
          <p:cNvSpPr txBox="1"/>
          <p:nvPr/>
        </p:nvSpPr>
        <p:spPr>
          <a:xfrm>
            <a:off x="3269673" y="6317673"/>
            <a:ext cx="3948545" cy="307777"/>
          </a:xfrm>
          <a:prstGeom prst="rect">
            <a:avLst/>
          </a:prstGeom>
          <a:noFill/>
        </p:spPr>
        <p:txBody>
          <a:bodyPr wrap="square" rtlCol="0">
            <a:spAutoFit/>
          </a:bodyPr>
          <a:lstStyle/>
          <a:p>
            <a:r>
              <a:rPr lang="en-US" dirty="0" smtClean="0"/>
              <a:t>                           Citizen complaints</a:t>
            </a:r>
            <a:endParaRPr lang="en-IN" dirty="0"/>
          </a:p>
        </p:txBody>
      </p:sp>
    </p:spTree>
    <p:extLst>
      <p:ext uri="{BB962C8B-B14F-4D97-AF65-F5344CB8AC3E}">
        <p14:creationId xmlns:p14="http://schemas.microsoft.com/office/powerpoint/2010/main" val="7152113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3239"/>
            <a:ext cx="11887200" cy="5648069"/>
          </a:xfrm>
          <a:prstGeom prst="rect">
            <a:avLst/>
          </a:prstGeom>
        </p:spPr>
      </p:pic>
      <p:sp>
        <p:nvSpPr>
          <p:cNvPr id="4" name="TextBox 3"/>
          <p:cNvSpPr txBox="1"/>
          <p:nvPr/>
        </p:nvSpPr>
        <p:spPr>
          <a:xfrm>
            <a:off x="1745673" y="6289964"/>
            <a:ext cx="6109854" cy="307777"/>
          </a:xfrm>
          <a:prstGeom prst="rect">
            <a:avLst/>
          </a:prstGeom>
          <a:noFill/>
        </p:spPr>
        <p:txBody>
          <a:bodyPr wrap="square" rtlCol="0">
            <a:spAutoFit/>
          </a:bodyPr>
          <a:lstStyle/>
          <a:p>
            <a:r>
              <a:rPr lang="en-US" dirty="0" smtClean="0"/>
              <a:t>                                                      Citizen Ai Agent in Hindi</a:t>
            </a:r>
            <a:endParaRPr lang="en-IN" dirty="0"/>
          </a:p>
        </p:txBody>
      </p:sp>
    </p:spTree>
    <p:extLst>
      <p:ext uri="{BB962C8B-B14F-4D97-AF65-F5344CB8AC3E}">
        <p14:creationId xmlns:p14="http://schemas.microsoft.com/office/powerpoint/2010/main" val="42000788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729213"/>
            <a:ext cx="11901055" cy="4992714"/>
          </a:xfrm>
          <a:prstGeom prst="rect">
            <a:avLst/>
          </a:prstGeom>
        </p:spPr>
      </p:pic>
      <p:sp>
        <p:nvSpPr>
          <p:cNvPr id="4" name="TextBox 3"/>
          <p:cNvSpPr txBox="1"/>
          <p:nvPr/>
        </p:nvSpPr>
        <p:spPr>
          <a:xfrm>
            <a:off x="3131127" y="6123709"/>
            <a:ext cx="5209309" cy="307777"/>
          </a:xfrm>
          <a:prstGeom prst="rect">
            <a:avLst/>
          </a:prstGeom>
          <a:noFill/>
        </p:spPr>
        <p:txBody>
          <a:bodyPr wrap="square" rtlCol="0">
            <a:spAutoFit/>
          </a:bodyPr>
          <a:lstStyle/>
          <a:p>
            <a:r>
              <a:rPr lang="en-US" dirty="0" err="1" smtClean="0"/>
              <a:t>Muncipal</a:t>
            </a:r>
            <a:r>
              <a:rPr lang="en-US" dirty="0" smtClean="0"/>
              <a:t> Officer can  Login and view/manage citizen </a:t>
            </a:r>
            <a:r>
              <a:rPr lang="en-US" dirty="0" err="1" smtClean="0"/>
              <a:t>compaints</a:t>
            </a:r>
            <a:endParaRPr lang="en-IN" dirty="0"/>
          </a:p>
        </p:txBody>
      </p:sp>
    </p:spTree>
    <p:extLst>
      <p:ext uri="{BB962C8B-B14F-4D97-AF65-F5344CB8AC3E}">
        <p14:creationId xmlns:p14="http://schemas.microsoft.com/office/powerpoint/2010/main" val="10676104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95745"/>
            <a:ext cx="11748655" cy="5209310"/>
          </a:xfrm>
          <a:prstGeom prst="rect">
            <a:avLst/>
          </a:prstGeom>
        </p:spPr>
      </p:pic>
      <p:sp>
        <p:nvSpPr>
          <p:cNvPr id="4" name="TextBox 3"/>
          <p:cNvSpPr txBox="1"/>
          <p:nvPr/>
        </p:nvSpPr>
        <p:spPr>
          <a:xfrm>
            <a:off x="2687782" y="6165273"/>
            <a:ext cx="5832763" cy="307777"/>
          </a:xfrm>
          <a:prstGeom prst="rect">
            <a:avLst/>
          </a:prstGeom>
          <a:noFill/>
        </p:spPr>
        <p:txBody>
          <a:bodyPr wrap="square" rtlCol="0">
            <a:spAutoFit/>
          </a:bodyPr>
          <a:lstStyle/>
          <a:p>
            <a:r>
              <a:rPr lang="en-US" dirty="0" smtClean="0"/>
              <a:t>                    Assigned </a:t>
            </a:r>
            <a:r>
              <a:rPr lang="en-US" dirty="0" err="1" smtClean="0"/>
              <a:t>Compaints</a:t>
            </a:r>
            <a:r>
              <a:rPr lang="en-US" dirty="0" smtClean="0"/>
              <a:t> from citizen </a:t>
            </a:r>
            <a:endParaRPr lang="en-IN" dirty="0"/>
          </a:p>
        </p:txBody>
      </p:sp>
    </p:spTree>
    <p:extLst>
      <p:ext uri="{BB962C8B-B14F-4D97-AF65-F5344CB8AC3E}">
        <p14:creationId xmlns:p14="http://schemas.microsoft.com/office/powerpoint/2010/main" val="27156084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738012"/>
            <a:ext cx="11804073" cy="5164023"/>
          </a:xfrm>
          <a:prstGeom prst="rect">
            <a:avLst/>
          </a:prstGeom>
        </p:spPr>
      </p:pic>
      <p:sp>
        <p:nvSpPr>
          <p:cNvPr id="5" name="TextBox 4"/>
          <p:cNvSpPr txBox="1"/>
          <p:nvPr/>
        </p:nvSpPr>
        <p:spPr>
          <a:xfrm>
            <a:off x="2286000" y="6123709"/>
            <a:ext cx="6664036" cy="307777"/>
          </a:xfrm>
          <a:prstGeom prst="rect">
            <a:avLst/>
          </a:prstGeom>
          <a:noFill/>
        </p:spPr>
        <p:txBody>
          <a:bodyPr wrap="square" rtlCol="0">
            <a:spAutoFit/>
          </a:bodyPr>
          <a:lstStyle/>
          <a:p>
            <a:r>
              <a:rPr lang="en-US" dirty="0" smtClean="0"/>
              <a:t> 	Citizen can update their </a:t>
            </a:r>
            <a:r>
              <a:rPr lang="en-US" dirty="0" err="1" smtClean="0"/>
              <a:t>compaints</a:t>
            </a:r>
            <a:endParaRPr lang="en-IN" dirty="0"/>
          </a:p>
        </p:txBody>
      </p:sp>
    </p:spTree>
    <p:extLst>
      <p:ext uri="{BB962C8B-B14F-4D97-AF65-F5344CB8AC3E}">
        <p14:creationId xmlns:p14="http://schemas.microsoft.com/office/powerpoint/2010/main" val="11605293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82202"/>
            <a:ext cx="11831782" cy="5413797"/>
          </a:xfrm>
          <a:prstGeom prst="rect">
            <a:avLst/>
          </a:prstGeom>
        </p:spPr>
      </p:pic>
      <p:sp>
        <p:nvSpPr>
          <p:cNvPr id="4" name="TextBox 3"/>
          <p:cNvSpPr txBox="1"/>
          <p:nvPr/>
        </p:nvSpPr>
        <p:spPr>
          <a:xfrm>
            <a:off x="2590800" y="6262255"/>
            <a:ext cx="5638800" cy="307777"/>
          </a:xfrm>
          <a:prstGeom prst="rect">
            <a:avLst/>
          </a:prstGeom>
          <a:noFill/>
        </p:spPr>
        <p:txBody>
          <a:bodyPr wrap="square" rtlCol="0">
            <a:spAutoFit/>
          </a:bodyPr>
          <a:lstStyle/>
          <a:p>
            <a:r>
              <a:rPr lang="en-US" dirty="0" smtClean="0"/>
              <a:t>	Admin can view complaint details</a:t>
            </a:r>
            <a:endParaRPr lang="en-IN" dirty="0"/>
          </a:p>
        </p:txBody>
      </p:sp>
    </p:spTree>
    <p:extLst>
      <p:ext uri="{BB962C8B-B14F-4D97-AF65-F5344CB8AC3E}">
        <p14:creationId xmlns:p14="http://schemas.microsoft.com/office/powerpoint/2010/main" val="776741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7679"/>
            <a:ext cx="11526982" cy="5369048"/>
          </a:xfrm>
          <a:prstGeom prst="rect">
            <a:avLst/>
          </a:prstGeom>
        </p:spPr>
      </p:pic>
      <p:sp>
        <p:nvSpPr>
          <p:cNvPr id="4" name="TextBox 3"/>
          <p:cNvSpPr txBox="1"/>
          <p:nvPr/>
        </p:nvSpPr>
        <p:spPr>
          <a:xfrm>
            <a:off x="2757055" y="6303818"/>
            <a:ext cx="5430981" cy="307777"/>
          </a:xfrm>
          <a:prstGeom prst="rect">
            <a:avLst/>
          </a:prstGeom>
          <a:noFill/>
        </p:spPr>
        <p:txBody>
          <a:bodyPr wrap="square" rtlCol="0">
            <a:spAutoFit/>
          </a:bodyPr>
          <a:lstStyle/>
          <a:p>
            <a:r>
              <a:rPr lang="en-US" dirty="0" smtClean="0"/>
              <a:t>                               Ai Agent in Gujarati</a:t>
            </a:r>
            <a:endParaRPr lang="en-IN" dirty="0"/>
          </a:p>
        </p:txBody>
      </p:sp>
    </p:spTree>
    <p:extLst>
      <p:ext uri="{BB962C8B-B14F-4D97-AF65-F5344CB8AC3E}">
        <p14:creationId xmlns:p14="http://schemas.microsoft.com/office/powerpoint/2010/main" val="16532554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US" dirty="0"/>
              <a:t>Agentic AI plays an important role in making the municipal solid waste management system intelligent, automated, and decision-driven. It enables AI agents to analyze waste-related data, understand problems, and provide recommendations for improving waste management operations.</a:t>
            </a:r>
          </a:p>
          <a:p>
            <a:r>
              <a:rPr lang="en-US" dirty="0"/>
              <a:t>In this project, Agentic AI helps municipalities by:</a:t>
            </a:r>
          </a:p>
          <a:p>
            <a:r>
              <a:rPr lang="en-US" b="1" dirty="0"/>
              <a:t>Intelligent Waste Analysis:</a:t>
            </a:r>
            <a:r>
              <a:rPr lang="en-US" dirty="0"/>
              <a:t> AI agents analyze waste generation patterns and provide insights for better waste management planning. </a:t>
            </a:r>
          </a:p>
          <a:p>
            <a:r>
              <a:rPr lang="en-US" b="1" dirty="0"/>
              <a:t>Smart Decision Support:</a:t>
            </a:r>
            <a:r>
              <a:rPr lang="en-US" dirty="0"/>
              <a:t> Agentic AI assists municipal teams by generating AI-based recommendations for collection planning, resource utilization, and sustainability improvements. </a:t>
            </a:r>
          </a:p>
          <a:p>
            <a:r>
              <a:rPr lang="en-US" b="1" dirty="0"/>
              <a:t>Collection Optimization:</a:t>
            </a:r>
            <a:r>
              <a:rPr lang="en-US" dirty="0"/>
              <a:t> AI agents help identify efficient waste collection strategies by analyzing available data and improving operational efficiency. </a:t>
            </a:r>
          </a:p>
          <a:p>
            <a:r>
              <a:rPr lang="en-US" b="1" dirty="0"/>
              <a:t>Circular Economy Support:</a:t>
            </a:r>
            <a:r>
              <a:rPr lang="en-US" dirty="0"/>
              <a:t> Agentic AI helps track sustainability-related information and provides suggestions to improve recycling and resource recovery practices. </a:t>
            </a:r>
          </a:p>
          <a:p>
            <a:r>
              <a:rPr lang="en-US" b="1" dirty="0"/>
              <a:t>Automated Assistance:</a:t>
            </a:r>
            <a:r>
              <a:rPr lang="en-US" dirty="0"/>
              <a:t> AI agents can respond to waste management queries and support users with relevant information and recommendations. </a:t>
            </a:r>
          </a:p>
          <a:p>
            <a:r>
              <a:rPr lang="en-US" dirty="0"/>
              <a:t>Overall, Agentic AI transforms traditional waste management into a smarter, data-driven, and sustainable system by enabling autonomous analysis, decision support, and continuous improvement.</a:t>
            </a:r>
          </a:p>
        </p:txBody>
      </p:sp>
      <p:pic>
        <p:nvPicPr>
          <p:cNvPr id="3076" name="Picture 4" descr="Understanding What is an AI Image: Creation and Impact Explain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8432" y="283465"/>
            <a:ext cx="4011168" cy="53137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Git</a:t>
            </a:r>
            <a:r>
              <a:rPr lang="en-US" sz="2400" b="1" dirty="0">
                <a:sym typeface="Times New Roman"/>
              </a:rPr>
              <a: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https://github.com/ANJARA05/AI-Powered-Municipal-Solid-Waste-Circular-Economy-Platform</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1800" dirty="0"/>
              <a:t>The future scope of the </a:t>
            </a:r>
            <a:r>
              <a:rPr lang="en-US" sz="1800" b="1" dirty="0"/>
              <a:t>AI-Powered Municipal Solid Waste &amp; Circular Economy Platform</a:t>
            </a:r>
            <a:r>
              <a:rPr lang="en-US" sz="1800" dirty="0"/>
              <a:t> is to enhance the system with more advanced Artificial Intelligence capabilities and real-time smart city integration. The platform can be extended by integrating </a:t>
            </a:r>
            <a:r>
              <a:rPr lang="en-US" sz="1800" dirty="0" err="1"/>
              <a:t>IoT</a:t>
            </a:r>
            <a:r>
              <a:rPr lang="en-US" sz="1800" dirty="0"/>
              <a:t> sensors, GPS-based tracking, and real-time waste monitoring systems to collect accurate field data.</a:t>
            </a:r>
          </a:p>
          <a:p>
            <a:r>
              <a:rPr lang="en-US" sz="1800" dirty="0"/>
              <a:t>In the future, AI agents can be improved to provide more accurate waste collection predictions, dynamic route optimization, and automated decision-making for municipal authorities. The system can also be integrated with mobile applications to improve citizen participation through complaint reporting, waste segregation guidance, and awareness programs.</a:t>
            </a:r>
          </a:p>
          <a:p>
            <a:r>
              <a:rPr lang="en-US" sz="1800" dirty="0"/>
              <a:t>The platform can further support advanced analytics, predictive modeling, and sustainability reporting to help municipalities reduce waste generation, increase recycling efficiency, and achieve circular economy goals. Integration with smart city platforms and cloud-based services can make the solution scalable for large urban areas.</a:t>
            </a:r>
          </a:p>
          <a:p>
            <a:r>
              <a:rPr lang="en-US" sz="1800" dirty="0"/>
              <a:t>Overall, the future development of this platform focuses on creating a fully intelligent, automated, and sustainable waste management ecosystem using Artificial Intelligence and emerging technologies</a:t>
            </a:r>
            <a:r>
              <a:rPr lang="en-US" sz="2000" dirty="0"/>
              <a: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graphicFrame>
        <p:nvGraphicFramePr>
          <p:cNvPr id="5" name="Object 4"/>
          <p:cNvGraphicFramePr>
            <a:graphicFrameLocks noChangeAspect="1"/>
          </p:cNvGraphicFramePr>
          <p:nvPr>
            <p:extLst>
              <p:ext uri="{D42A27DB-BD31-4B8C-83A1-F6EECF244321}">
                <p14:modId xmlns:p14="http://schemas.microsoft.com/office/powerpoint/2010/main" val="120686298"/>
              </p:ext>
            </p:extLst>
          </p:nvPr>
        </p:nvGraphicFramePr>
        <p:xfrm>
          <a:off x="1220643" y="1596314"/>
          <a:ext cx="9433502" cy="5667375"/>
        </p:xfrm>
        <a:graphic>
          <a:graphicData uri="http://schemas.openxmlformats.org/presentationml/2006/ole">
            <mc:AlternateContent xmlns:mc="http://schemas.openxmlformats.org/markup-compatibility/2006">
              <mc:Choice xmlns:v="urn:schemas-microsoft-com:vml" Requires="v">
                <p:oleObj spid="_x0000_s5151" name="Acrobat Document" r:id="rId3" imgW="8019753" imgH="5666954" progId="AcroExch.Document.11">
                  <p:embed/>
                </p:oleObj>
              </mc:Choice>
              <mc:Fallback>
                <p:oleObj name="Acrobat Document" r:id="rId3" imgW="8019753" imgH="5666954" progId="AcroExch.Document.11">
                  <p:embed/>
                  <p:pic>
                    <p:nvPicPr>
                      <p:cNvPr id="0" name=""/>
                      <p:cNvPicPr/>
                      <p:nvPr/>
                    </p:nvPicPr>
                    <p:blipFill>
                      <a:blip r:embed="rId4"/>
                      <a:stretch>
                        <a:fillRect/>
                      </a:stretch>
                    </p:blipFill>
                    <p:spPr>
                      <a:xfrm>
                        <a:off x="1220643" y="1596314"/>
                        <a:ext cx="9433502" cy="5667375"/>
                      </a:xfrm>
                      <a:prstGeom prst="rect">
                        <a:avLst/>
                      </a:prstGeom>
                      <a:solidFill>
                        <a:schemeClr val="tx1"/>
                      </a:solidFill>
                    </p:spPr>
                  </p:pic>
                </p:oleObj>
              </mc:Fallback>
            </mc:AlternateContent>
          </a:graphicData>
        </a:graphic>
      </p:graphicFrame>
    </p:spTree>
    <p:extLst>
      <p:ext uri="{BB962C8B-B14F-4D97-AF65-F5344CB8AC3E}">
        <p14:creationId xmlns:p14="http://schemas.microsoft.com/office/powerpoint/2010/main" val="12290476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graphicFrame>
        <p:nvGraphicFramePr>
          <p:cNvPr id="2" name="Object 1"/>
          <p:cNvGraphicFramePr>
            <a:graphicFrameLocks noChangeAspect="1"/>
          </p:cNvGraphicFramePr>
          <p:nvPr>
            <p:extLst>
              <p:ext uri="{D42A27DB-BD31-4B8C-83A1-F6EECF244321}">
                <p14:modId xmlns:p14="http://schemas.microsoft.com/office/powerpoint/2010/main" val="843007991"/>
              </p:ext>
            </p:extLst>
          </p:nvPr>
        </p:nvGraphicFramePr>
        <p:xfrm>
          <a:off x="1608569" y="1477578"/>
          <a:ext cx="8768485" cy="5667375"/>
        </p:xfrm>
        <a:graphic>
          <a:graphicData uri="http://schemas.openxmlformats.org/presentationml/2006/ole">
            <mc:AlternateContent xmlns:mc="http://schemas.openxmlformats.org/markup-compatibility/2006">
              <mc:Choice xmlns:v="urn:schemas-microsoft-com:vml" Requires="v">
                <p:oleObj spid="_x0000_s6173" name="Acrobat Document" r:id="rId3" imgW="8019753" imgH="5666954" progId="AcroExch.Document.11">
                  <p:embed/>
                </p:oleObj>
              </mc:Choice>
              <mc:Fallback>
                <p:oleObj name="Acrobat Document" r:id="rId3" imgW="8019753" imgH="5666954" progId="AcroExch.Document.11">
                  <p:embed/>
                  <p:pic>
                    <p:nvPicPr>
                      <p:cNvPr id="0" name=""/>
                      <p:cNvPicPr/>
                      <p:nvPr/>
                    </p:nvPicPr>
                    <p:blipFill>
                      <a:blip r:embed="rId4"/>
                      <a:stretch>
                        <a:fillRect/>
                      </a:stretch>
                    </p:blipFill>
                    <p:spPr>
                      <a:xfrm>
                        <a:off x="1608569" y="1477578"/>
                        <a:ext cx="8768485" cy="5667375"/>
                      </a:xfrm>
                      <a:prstGeom prst="rect">
                        <a:avLst/>
                      </a:prstGeom>
                    </p:spPr>
                  </p:pic>
                </p:oleObj>
              </mc:Fallback>
            </mc:AlternateContent>
          </a:graphicData>
        </a:graphic>
      </p:graphicFrame>
    </p:spTree>
    <p:extLst>
      <p:ext uri="{BB962C8B-B14F-4D97-AF65-F5344CB8AC3E}">
        <p14:creationId xmlns:p14="http://schemas.microsoft.com/office/powerpoint/2010/main" val="25066107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TotalTime>
  <Words>913</Words>
  <Application>Microsoft Office PowerPoint</Application>
  <PresentationFormat>Widescreen</PresentationFormat>
  <Paragraphs>130</Paragraphs>
  <Slides>28</Slides>
  <Notes>25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3" baseType="lpstr">
      <vt:lpstr>Arial</vt:lpstr>
      <vt:lpstr>Calibri</vt:lpstr>
      <vt:lpstr>Times New Roman</vt:lpstr>
      <vt:lpstr>Office Theme</vt:lpstr>
      <vt:lpstr>Acrobat Document</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AI</cp:lastModifiedBy>
  <cp:revision>44</cp:revision>
  <dcterms:created xsi:type="dcterms:W3CDTF">2025-07-08T05:06:56Z</dcterms:created>
  <dcterms:modified xsi:type="dcterms:W3CDTF">2026-08-01T15:50:31Z</dcterms:modified>
</cp:coreProperties>
</file>